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6" r:id="rId9"/>
    <p:sldId id="299" r:id="rId10"/>
    <p:sldId id="297" r:id="rId11"/>
    <p:sldId id="298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7" r:id="rId32"/>
    <p:sldId id="288" r:id="rId33"/>
    <p:sldId id="289" r:id="rId34"/>
    <p:sldId id="291" r:id="rId35"/>
    <p:sldId id="29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7.1355841371918541E-2"/>
          <c:y val="0.15075735536086457"/>
          <c:w val="0.9139067524115756"/>
          <c:h val="0.7251966119316853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Liczba probek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phishing</c:v>
                </c:pt>
                <c:pt idx="1">
                  <c:v>legit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8B-4D15-A584-80809CFFF7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Gemini</c:v>
                </c:pt>
                <c:pt idx="1">
                  <c:v>GPT-4.1</c:v>
                </c:pt>
                <c:pt idx="2">
                  <c:v>Bielik</c:v>
                </c:pt>
                <c:pt idx="3">
                  <c:v>Llama</c:v>
                </c:pt>
                <c:pt idx="4">
                  <c:v>Mistral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97.6</c:v>
                </c:pt>
                <c:pt idx="1">
                  <c:v>95.6</c:v>
                </c:pt>
                <c:pt idx="2">
                  <c:v>98.2</c:v>
                </c:pt>
                <c:pt idx="3">
                  <c:v>73.489999999999995</c:v>
                </c:pt>
                <c:pt idx="4">
                  <c:v>71.400000000000006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4-49FC-91D4-E43F56DB12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7406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8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750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3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5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7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3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6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0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1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9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4000" noProof="0" dirty="0"/>
              <a:t>Analiza porównawcza skuteczności modeli językowych w wykrywaniu wiadomości </a:t>
            </a:r>
            <a:r>
              <a:rPr lang="pl-PL" sz="4000" noProof="0" dirty="0" err="1"/>
              <a:t>phishingowych</a:t>
            </a:r>
            <a:endParaRPr lang="pl-PL" sz="4000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5969000"/>
            <a:ext cx="9418320" cy="523240"/>
          </a:xfrm>
        </p:spPr>
        <p:txBody>
          <a:bodyPr>
            <a:normAutofit/>
          </a:bodyPr>
          <a:lstStyle/>
          <a:p>
            <a:r>
              <a:rPr lang="pl-PL" noProof="0" dirty="0"/>
              <a:t>Autor: Piotr Maliga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1. Problem i motywacja</a:t>
            </a:r>
          </a:p>
          <a:p>
            <a:pPr>
              <a:defRPr sz="2200"/>
            </a:pPr>
            <a:r>
              <a:rPr lang="pl-PL" noProof="0" dirty="0"/>
              <a:t>2. Cele pracy i pytania badawcze</a:t>
            </a:r>
          </a:p>
          <a:p>
            <a:pPr>
              <a:defRPr sz="2200"/>
            </a:pPr>
            <a:r>
              <a:rPr lang="pl-PL" noProof="0" dirty="0"/>
              <a:t>3. Architektura systemu</a:t>
            </a:r>
          </a:p>
          <a:p>
            <a:pPr>
              <a:defRPr sz="2200"/>
            </a:pPr>
            <a:r>
              <a:rPr lang="pl-PL" noProof="0" dirty="0"/>
              <a:t>4. Dane i metodologia</a:t>
            </a:r>
          </a:p>
          <a:p>
            <a:pPr>
              <a:defRPr sz="2200"/>
            </a:pPr>
            <a:r>
              <a:rPr lang="pl-PL" noProof="0" dirty="0"/>
              <a:t>5. Wyniki eksperymentów</a:t>
            </a:r>
          </a:p>
          <a:p>
            <a:pPr>
              <a:defRPr sz="2200"/>
            </a:pPr>
            <a:r>
              <a:rPr lang="pl-PL" noProof="0" dirty="0"/>
              <a:t>6. Ryzyka, ograniczenia, rekomendacje</a:t>
            </a:r>
          </a:p>
          <a:p>
            <a:pPr>
              <a:defRPr sz="2200"/>
            </a:pPr>
            <a:r>
              <a:rPr lang="pl-PL" noProof="0" dirty="0"/>
              <a:t>7. Dalsze kierunki rozwoju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Dlaczego </a:t>
            </a:r>
            <a:r>
              <a:rPr lang="pl-PL" noProof="0" dirty="0" err="1"/>
              <a:t>phishing</a:t>
            </a:r>
            <a:r>
              <a:rPr lang="pl-PL" noProof="0" dirty="0"/>
              <a:t> to realny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Ataki celują głównie w człowieka i kontekst komunikacji.</a:t>
            </a:r>
          </a:p>
          <a:p>
            <a:pPr>
              <a:defRPr sz="2200"/>
            </a:pPr>
            <a:r>
              <a:rPr lang="pl-PL" noProof="0" dirty="0"/>
              <a:t>Rośnie jakość wiadomości generowanych automatycznie.</a:t>
            </a:r>
          </a:p>
          <a:p>
            <a:pPr>
              <a:defRPr sz="2200"/>
            </a:pPr>
            <a:r>
              <a:rPr lang="pl-PL" noProof="0" dirty="0"/>
              <a:t>Potrzebna jest szybka, automatyczna klasyfikacja treści email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Cel pracy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Zbudować </a:t>
            </a:r>
            <a:r>
              <a:rPr lang="pl-PL" noProof="0" dirty="0" err="1"/>
              <a:t>dzia</a:t>
            </a:r>
            <a:r>
              <a:rPr lang="pl-PL" dirty="0"/>
              <a:t>ł</a:t>
            </a:r>
            <a:r>
              <a:rPr lang="pl-PL" noProof="0" dirty="0"/>
              <a:t>aj</a:t>
            </a:r>
            <a:r>
              <a:rPr lang="pl-PL" dirty="0"/>
              <a:t>ą</a:t>
            </a:r>
            <a:r>
              <a:rPr lang="pl-PL" noProof="0" dirty="0" err="1"/>
              <a:t>cy</a:t>
            </a:r>
            <a:r>
              <a:rPr lang="pl-PL" noProof="0" dirty="0"/>
              <a:t> system end-to-end</a:t>
            </a:r>
          </a:p>
          <a:p>
            <a:pPr>
              <a:defRPr sz="2200"/>
            </a:pPr>
            <a:r>
              <a:rPr lang="pl-PL" noProof="0" dirty="0"/>
              <a:t>Porównać jakość wielu modeli LLM na tym samym zbiorze.</a:t>
            </a:r>
          </a:p>
          <a:p>
            <a:pPr>
              <a:defRPr sz="2200"/>
            </a:pPr>
            <a:r>
              <a:rPr lang="pl-PL" noProof="0" dirty="0"/>
              <a:t>Oceniać skuteczność</a:t>
            </a:r>
          </a:p>
          <a:p>
            <a:pPr>
              <a:defRPr sz="2200"/>
            </a:pPr>
            <a:r>
              <a:rPr lang="pl-PL" noProof="0" dirty="0"/>
              <a:t>Przygotować raportowanie i bazę pod dalsze eksperymenty.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872" y="-45402"/>
            <a:ext cx="9692640" cy="1325562"/>
          </a:xfrm>
        </p:spPr>
        <p:txBody>
          <a:bodyPr/>
          <a:lstStyle/>
          <a:p>
            <a:r>
              <a:rPr lang="pl-PL" noProof="0" dirty="0"/>
              <a:t>Pytania badawcze i hipotezy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" y="2012951"/>
            <a:ext cx="6853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pl-PL" noProof="0" dirty="0"/>
              <a:t>P1: Który model klasyfikuje najlepiej?</a:t>
            </a:r>
          </a:p>
          <a:p>
            <a:pPr>
              <a:defRPr sz="2000"/>
            </a:pPr>
            <a:r>
              <a:rPr lang="pl-PL" noProof="0" dirty="0"/>
              <a:t>P2: API vs modele lokalne - jaka r</a:t>
            </a:r>
            <a:r>
              <a:rPr lang="pl-PL" dirty="0" err="1"/>
              <a:t>óż</a:t>
            </a:r>
            <a:r>
              <a:rPr lang="pl-PL" noProof="0" dirty="0"/>
              <a:t>nica?</a:t>
            </a:r>
          </a:p>
          <a:p>
            <a:pPr>
              <a:defRPr sz="2000"/>
            </a:pPr>
            <a:r>
              <a:rPr lang="pl-PL" noProof="0" dirty="0"/>
              <a:t>P3: Jakie </a:t>
            </a:r>
            <a:r>
              <a:rPr lang="pl-PL" noProof="0" dirty="0" err="1"/>
              <a:t>bł</a:t>
            </a:r>
            <a:r>
              <a:rPr lang="pl-PL" dirty="0"/>
              <a:t>ę</a:t>
            </a:r>
            <a:r>
              <a:rPr lang="pl-PL" noProof="0" dirty="0" err="1"/>
              <a:t>dy</a:t>
            </a:r>
            <a:r>
              <a:rPr lang="pl-PL" noProof="0" dirty="0"/>
              <a:t> dominują: FP czy FN?</a:t>
            </a:r>
          </a:p>
          <a:p>
            <a:pPr>
              <a:defRPr sz="2000"/>
            </a:pPr>
            <a:r>
              <a:rPr lang="pl-PL" noProof="0" dirty="0"/>
              <a:t>P4: Jak implementacja wpływa na </a:t>
            </a:r>
            <a:r>
              <a:rPr lang="pl-PL" noProof="0" dirty="0" err="1"/>
              <a:t>wdro</a:t>
            </a:r>
            <a:r>
              <a:rPr lang="pl-PL" dirty="0"/>
              <a:t>ż</a:t>
            </a:r>
            <a:r>
              <a:rPr lang="pl-PL" noProof="0" dirty="0" err="1"/>
              <a:t>enie</a:t>
            </a:r>
            <a:r>
              <a:rPr lang="pl-PL" noProof="0" dirty="0"/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Zakres i </a:t>
            </a:r>
            <a:r>
              <a:rPr lang="pl-PL" dirty="0"/>
              <a:t>charakterystyka </a:t>
            </a:r>
            <a:r>
              <a:rPr lang="pl-PL" noProof="0" dirty="0"/>
              <a:t>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 err="1"/>
              <a:t>Backend</a:t>
            </a:r>
            <a:r>
              <a:rPr lang="pl-PL" noProof="0" dirty="0"/>
              <a:t> API: </a:t>
            </a:r>
            <a:r>
              <a:rPr lang="pl-PL" noProof="0" dirty="0" err="1"/>
              <a:t>phishing</a:t>
            </a:r>
            <a:r>
              <a:rPr lang="pl-PL" noProof="0" dirty="0"/>
              <a:t>-email-</a:t>
            </a:r>
            <a:r>
              <a:rPr lang="pl-PL" noProof="0" dirty="0" err="1"/>
              <a:t>analyzer</a:t>
            </a:r>
            <a:r>
              <a:rPr lang="pl-PL" noProof="0" dirty="0"/>
              <a:t>/</a:t>
            </a:r>
            <a:r>
              <a:rPr lang="pl-PL" noProof="0" dirty="0" err="1"/>
              <a:t>backend</a:t>
            </a:r>
            <a:endParaRPr lang="pl-PL" noProof="0" dirty="0"/>
          </a:p>
          <a:p>
            <a:pPr>
              <a:defRPr sz="2200"/>
            </a:pPr>
            <a:r>
              <a:rPr lang="pl-PL" noProof="0" dirty="0" err="1"/>
              <a:t>Frontend</a:t>
            </a:r>
            <a:r>
              <a:rPr lang="pl-PL" noProof="0" dirty="0"/>
              <a:t> UI: </a:t>
            </a:r>
            <a:r>
              <a:rPr lang="pl-PL" noProof="0" dirty="0" err="1"/>
              <a:t>phishing</a:t>
            </a:r>
            <a:r>
              <a:rPr lang="pl-PL" noProof="0" dirty="0"/>
              <a:t>-email-</a:t>
            </a:r>
            <a:r>
              <a:rPr lang="pl-PL" noProof="0" dirty="0" err="1"/>
              <a:t>analyzer</a:t>
            </a:r>
            <a:r>
              <a:rPr lang="pl-PL" noProof="0" dirty="0"/>
              <a:t>/</a:t>
            </a:r>
            <a:r>
              <a:rPr lang="pl-PL" noProof="0" dirty="0" err="1"/>
              <a:t>frontend</a:t>
            </a:r>
            <a:endParaRPr lang="pl-PL" noProof="0" dirty="0"/>
          </a:p>
          <a:p>
            <a:pPr>
              <a:defRPr sz="2200"/>
            </a:pPr>
            <a:r>
              <a:rPr lang="pl-PL" noProof="0" dirty="0"/>
              <a:t>Zbiór danych: data/</a:t>
            </a:r>
            <a:r>
              <a:rPr lang="pl-PL" noProof="0" dirty="0" err="1"/>
              <a:t>data.json</a:t>
            </a:r>
            <a:endParaRPr lang="pl-PL" noProof="0" dirty="0"/>
          </a:p>
          <a:p>
            <a:pPr>
              <a:defRPr sz="2200"/>
            </a:pPr>
            <a:r>
              <a:rPr lang="pl-PL" noProof="0" dirty="0"/>
              <a:t>Raporty: </a:t>
            </a:r>
            <a:r>
              <a:rPr lang="pl-PL" noProof="0" dirty="0" err="1"/>
              <a:t>reports</a:t>
            </a:r>
            <a:r>
              <a:rPr lang="pl-PL" noProof="0" dirty="0"/>
              <a:t>/*.</a:t>
            </a:r>
            <a:r>
              <a:rPr lang="pl-PL" noProof="0" dirty="0" err="1"/>
              <a:t>json</a:t>
            </a:r>
            <a:endParaRPr lang="pl-PL" noProof="0" dirty="0"/>
          </a:p>
          <a:p>
            <a:pPr>
              <a:defRPr sz="2200"/>
            </a:pPr>
            <a:r>
              <a:rPr lang="pl-PL" noProof="0" dirty="0"/>
              <a:t>Dokumentacja naukowa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Sposób działania </a:t>
            </a:r>
            <a:r>
              <a:rPr lang="pl-PL" noProof="0" dirty="0" err="1"/>
              <a:t>apliakcji</a:t>
            </a:r>
            <a:endParaRPr lang="pl-PL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U</a:t>
            </a:r>
            <a:r>
              <a:rPr lang="pl-PL" dirty="0"/>
              <a:t>ż</a:t>
            </a:r>
            <a:r>
              <a:rPr lang="pl-PL" noProof="0" dirty="0" err="1"/>
              <a:t>ytkownik</a:t>
            </a:r>
            <a:r>
              <a:rPr lang="pl-PL" noProof="0" dirty="0"/>
              <a:t> wprowadza email w aplikacji.</a:t>
            </a:r>
          </a:p>
          <a:p>
            <a:pPr>
              <a:defRPr sz="2200"/>
            </a:pPr>
            <a:r>
              <a:rPr lang="pl-PL" noProof="0" dirty="0" err="1"/>
              <a:t>Frontend</a:t>
            </a:r>
            <a:r>
              <a:rPr lang="pl-PL" noProof="0" dirty="0"/>
              <a:t> wysyła POST /</a:t>
            </a:r>
            <a:r>
              <a:rPr lang="pl-PL" noProof="0" dirty="0" err="1"/>
              <a:t>analyze</a:t>
            </a:r>
            <a:r>
              <a:rPr lang="pl-PL" noProof="0" dirty="0"/>
              <a:t> do </a:t>
            </a:r>
            <a:r>
              <a:rPr lang="pl-PL" noProof="0" dirty="0" err="1"/>
              <a:t>FastAPI</a:t>
            </a:r>
            <a:r>
              <a:rPr lang="pl-PL" noProof="0" dirty="0"/>
              <a:t>.</a:t>
            </a:r>
          </a:p>
          <a:p>
            <a:pPr>
              <a:defRPr sz="2200"/>
            </a:pPr>
            <a:r>
              <a:rPr lang="pl-PL" noProof="0" dirty="0" err="1"/>
              <a:t>Backend</a:t>
            </a:r>
            <a:r>
              <a:rPr lang="pl-PL" noProof="0" dirty="0"/>
              <a:t> deleguje klasyfikacje do wybranego adaptera modelu.</a:t>
            </a:r>
          </a:p>
          <a:p>
            <a:pPr>
              <a:defRPr sz="2200"/>
            </a:pPr>
            <a:r>
              <a:rPr lang="pl-PL" noProof="0" dirty="0"/>
              <a:t>API zwraca etykietę, uzasadnienie i</a:t>
            </a:r>
            <a:r>
              <a:rPr lang="pl-PL" dirty="0"/>
              <a:t> zlicza czas odpowiedzi</a:t>
            </a:r>
            <a:r>
              <a:rPr lang="pl-PL" noProof="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1AF8B6-D232-2D70-5CE2-CE0B6892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1606B010-CA69-C425-7B5B-8F62327CD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704" y="269694"/>
            <a:ext cx="5209654" cy="632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3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12FE29-C94D-CA8A-54FA-A8C4C831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34E52495-BB08-F4C7-B7D3-00407DCD8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540" y="641840"/>
            <a:ext cx="9327341" cy="46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59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194162-F4A9-04D1-5C25-B466DFB3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E2ECF0E-37A8-3FEB-6148-F1893FD05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207" y="233579"/>
            <a:ext cx="8034201" cy="639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7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DA9048-10F8-550B-362C-DD5FB0A7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7432802-B357-EEDF-4270-78B9F4F18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088" y="139621"/>
            <a:ext cx="6889511" cy="657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7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 err="1"/>
              <a:t>Backend</a:t>
            </a:r>
            <a:r>
              <a:rPr lang="pl-PL" noProof="0" dirty="0"/>
              <a:t> </a:t>
            </a:r>
            <a:r>
              <a:rPr lang="pl-PL" noProof="0" dirty="0" err="1"/>
              <a:t>FastAPI</a:t>
            </a:r>
            <a:endParaRPr lang="pl-PL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 err="1"/>
              <a:t>Endpoint</a:t>
            </a:r>
            <a:r>
              <a:rPr lang="pl-PL" noProof="0" dirty="0"/>
              <a:t> GET / - status i lista modeli.</a:t>
            </a:r>
          </a:p>
          <a:p>
            <a:pPr>
              <a:defRPr sz="2200"/>
            </a:pPr>
            <a:r>
              <a:rPr lang="pl-PL" noProof="0" dirty="0" err="1"/>
              <a:t>Endpoint</a:t>
            </a:r>
            <a:r>
              <a:rPr lang="pl-PL" noProof="0" dirty="0"/>
              <a:t> POST /</a:t>
            </a:r>
            <a:r>
              <a:rPr lang="pl-PL" noProof="0" dirty="0" err="1"/>
              <a:t>analyze</a:t>
            </a:r>
            <a:r>
              <a:rPr lang="pl-PL" noProof="0" dirty="0"/>
              <a:t> - klasyfikacja pojedynczej wiadomo</a:t>
            </a:r>
            <a:r>
              <a:rPr lang="pl-PL" dirty="0"/>
              <a:t>ś</a:t>
            </a:r>
            <a:r>
              <a:rPr lang="pl-PL" noProof="0" dirty="0"/>
              <a:t>ci.</a:t>
            </a:r>
          </a:p>
          <a:p>
            <a:pPr>
              <a:defRPr sz="2200"/>
            </a:pPr>
            <a:r>
              <a:rPr lang="pl-PL" noProof="0" dirty="0"/>
              <a:t>Dynamiczne </a:t>
            </a:r>
            <a:r>
              <a:rPr lang="pl-PL" dirty="0"/>
              <a:t>ł</a:t>
            </a:r>
            <a:r>
              <a:rPr lang="pl-PL" noProof="0" dirty="0" err="1"/>
              <a:t>adowanie</a:t>
            </a:r>
            <a:r>
              <a:rPr lang="pl-PL" noProof="0" dirty="0"/>
              <a:t> adapterów przez </a:t>
            </a:r>
            <a:r>
              <a:rPr lang="pl-PL" noProof="0" dirty="0" err="1"/>
              <a:t>importlib.util</a:t>
            </a:r>
            <a:r>
              <a:rPr lang="pl-PL" noProof="0" dirty="0"/>
              <a:t>.</a:t>
            </a:r>
          </a:p>
          <a:p>
            <a:pPr>
              <a:defRPr sz="2200"/>
            </a:pPr>
            <a:r>
              <a:rPr lang="pl-PL" noProof="0" dirty="0"/>
              <a:t>Kontrakt odpowiedzi: </a:t>
            </a:r>
            <a:r>
              <a:rPr lang="pl-PL" noProof="0" dirty="0" err="1"/>
              <a:t>prediction</a:t>
            </a:r>
            <a:r>
              <a:rPr lang="pl-PL" noProof="0" dirty="0"/>
              <a:t>, </a:t>
            </a:r>
            <a:r>
              <a:rPr lang="pl-PL" noProof="0" dirty="0" err="1"/>
              <a:t>reason</a:t>
            </a:r>
            <a:r>
              <a:rPr lang="pl-PL" noProof="0" dirty="0"/>
              <a:t>, </a:t>
            </a:r>
            <a:r>
              <a:rPr lang="pl-PL" noProof="0" dirty="0" err="1"/>
              <a:t>timestamp</a:t>
            </a:r>
            <a:r>
              <a:rPr lang="pl-PL" noProof="0" dirty="0"/>
              <a:t>, czas.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 err="1"/>
              <a:t>Frontend</a:t>
            </a:r>
            <a:r>
              <a:rPr lang="pl-PL" noProof="0" dirty="0"/>
              <a:t> </a:t>
            </a:r>
            <a:r>
              <a:rPr lang="pl-PL" noProof="0" dirty="0" err="1"/>
              <a:t>Angular</a:t>
            </a:r>
            <a:endParaRPr lang="pl-PL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Aplikacja oparta o </a:t>
            </a:r>
            <a:r>
              <a:rPr lang="pl-PL" noProof="0" dirty="0" err="1"/>
              <a:t>Angular</a:t>
            </a:r>
            <a:r>
              <a:rPr lang="pl-PL" noProof="0" dirty="0"/>
              <a:t> 21 i </a:t>
            </a:r>
            <a:r>
              <a:rPr lang="pl-PL" noProof="0" dirty="0" err="1"/>
              <a:t>HttpClient</a:t>
            </a:r>
            <a:r>
              <a:rPr lang="pl-PL" noProof="0" dirty="0"/>
              <a:t>.</a:t>
            </a:r>
          </a:p>
          <a:p>
            <a:pPr>
              <a:defRPr sz="2200"/>
            </a:pPr>
            <a:r>
              <a:rPr lang="pl-PL" noProof="0" dirty="0" err="1"/>
              <a:t>ApiService</a:t>
            </a:r>
            <a:r>
              <a:rPr lang="pl-PL" noProof="0" dirty="0"/>
              <a:t> komunikuje si</a:t>
            </a:r>
            <a:r>
              <a:rPr lang="pl-PL" dirty="0"/>
              <a:t>ę</a:t>
            </a:r>
            <a:r>
              <a:rPr lang="pl-PL" noProof="0" dirty="0"/>
              <a:t> z </a:t>
            </a:r>
            <a:r>
              <a:rPr lang="pl-PL" noProof="0" dirty="0" err="1"/>
              <a:t>backendem</a:t>
            </a:r>
            <a:r>
              <a:rPr lang="pl-PL" noProof="0" dirty="0"/>
              <a:t> localhost:8000.</a:t>
            </a:r>
          </a:p>
          <a:p>
            <a:pPr>
              <a:defRPr sz="2200"/>
            </a:pPr>
            <a:r>
              <a:rPr lang="pl-PL" noProof="0" dirty="0"/>
              <a:t>Widoki: formularz analizy + panel wyników.</a:t>
            </a:r>
          </a:p>
          <a:p>
            <a:pPr>
              <a:defRPr sz="2200"/>
            </a:pPr>
            <a:r>
              <a:rPr lang="pl-PL" noProof="0" dirty="0"/>
              <a:t>Dodatkowo: testy jednostkowe, </a:t>
            </a:r>
            <a:r>
              <a:rPr lang="pl-PL" noProof="0" dirty="0" err="1"/>
              <a:t>coverage</a:t>
            </a:r>
            <a:r>
              <a:rPr lang="pl-PL" noProof="0" dirty="0"/>
              <a:t> i E2E </a:t>
            </a:r>
            <a:r>
              <a:rPr lang="pl-PL" noProof="0" dirty="0" err="1"/>
              <a:t>Playwright</a:t>
            </a:r>
            <a:r>
              <a:rPr lang="pl-PL" noProof="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Modele w systemie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gpt-4.1</a:t>
            </a:r>
          </a:p>
          <a:p>
            <a:pPr>
              <a:defRPr sz="2200"/>
            </a:pPr>
            <a:r>
              <a:rPr lang="pl-PL" noProof="0" dirty="0"/>
              <a:t>gemini-2.5-pro</a:t>
            </a:r>
          </a:p>
          <a:p>
            <a:pPr>
              <a:defRPr sz="2200"/>
            </a:pPr>
            <a:r>
              <a:rPr lang="pl-PL" noProof="0" dirty="0"/>
              <a:t>mistral-7b</a:t>
            </a:r>
          </a:p>
          <a:p>
            <a:pPr>
              <a:defRPr sz="2200"/>
            </a:pPr>
            <a:r>
              <a:rPr lang="pl-PL" noProof="0" dirty="0" err="1"/>
              <a:t>llama-cloud</a:t>
            </a:r>
            <a:endParaRPr lang="pl-PL" noProof="0" dirty="0"/>
          </a:p>
          <a:p>
            <a:pPr>
              <a:defRPr sz="2200"/>
            </a:pPr>
            <a:r>
              <a:rPr lang="pl-PL" noProof="0" dirty="0"/>
              <a:t>bielik-2-4bit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Kontrakt API /</a:t>
            </a:r>
            <a:r>
              <a:rPr lang="pl-PL" noProof="0" dirty="0" err="1"/>
              <a:t>analyze</a:t>
            </a:r>
            <a:endParaRPr lang="pl-PL" noProof="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827796"/>
              </p:ext>
            </p:extLst>
          </p:nvPr>
        </p:nvGraphicFramePr>
        <p:xfrm>
          <a:off x="844550" y="1752600"/>
          <a:ext cx="9264651" cy="433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8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8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131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email_text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Treść analizowanej wiadomości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model_name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Wybrany model klasyfikacji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sender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Nadawca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title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Temat wiadomości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prediction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phishing</a:t>
                      </a:r>
                      <a:r>
                        <a:rPr lang="pl-PL" noProof="0" dirty="0"/>
                        <a:t> albo </a:t>
                      </a:r>
                      <a:r>
                        <a:rPr lang="pl-PL" noProof="0" dirty="0" err="1"/>
                        <a:t>legit</a:t>
                      </a:r>
                      <a:endParaRPr lang="pl-P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reason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Uzasadnienie klasyfikacji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131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response_time_ms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number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Czas odpowiedzi </a:t>
                      </a:r>
                      <a:r>
                        <a:rPr lang="pl-PL" noProof="0" dirty="0" err="1"/>
                        <a:t>backendu</a:t>
                      </a:r>
                      <a:endParaRPr lang="pl-P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Zbiór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Liczba rekordów: 500</a:t>
            </a:r>
          </a:p>
          <a:p>
            <a:pPr>
              <a:defRPr sz="2200"/>
            </a:pPr>
            <a:r>
              <a:rPr lang="pl-PL" noProof="0" dirty="0"/>
              <a:t>Klasa </a:t>
            </a:r>
            <a:r>
              <a:rPr lang="pl-PL" noProof="0" dirty="0" err="1"/>
              <a:t>phishing</a:t>
            </a:r>
            <a:r>
              <a:rPr lang="pl-PL" noProof="0" dirty="0"/>
              <a:t>: 250</a:t>
            </a:r>
          </a:p>
          <a:p>
            <a:pPr>
              <a:defRPr sz="2200"/>
            </a:pPr>
            <a:r>
              <a:rPr lang="pl-PL" noProof="0" dirty="0"/>
              <a:t>Klasa </a:t>
            </a:r>
            <a:r>
              <a:rPr lang="pl-PL" noProof="0" dirty="0" err="1"/>
              <a:t>legit</a:t>
            </a:r>
            <a:r>
              <a:rPr lang="pl-PL" noProof="0" dirty="0"/>
              <a:t>: 250</a:t>
            </a:r>
          </a:p>
          <a:p>
            <a:pPr>
              <a:defRPr sz="2200"/>
            </a:pPr>
            <a:r>
              <a:rPr lang="pl-PL" noProof="0" dirty="0"/>
              <a:t>Format rekordu: id, </a:t>
            </a:r>
            <a:r>
              <a:rPr lang="pl-PL" noProof="0" dirty="0" err="1"/>
              <a:t>title</a:t>
            </a:r>
            <a:r>
              <a:rPr lang="pl-PL" noProof="0" dirty="0"/>
              <a:t>, </a:t>
            </a:r>
            <a:r>
              <a:rPr lang="pl-PL" noProof="0" dirty="0" err="1"/>
              <a:t>sender</a:t>
            </a:r>
            <a:r>
              <a:rPr lang="pl-PL" noProof="0" dirty="0"/>
              <a:t>, </a:t>
            </a:r>
            <a:r>
              <a:rPr lang="pl-PL" noProof="0" dirty="0" err="1"/>
              <a:t>text</a:t>
            </a:r>
            <a:r>
              <a:rPr lang="pl-PL" noProof="0" dirty="0"/>
              <a:t>, </a:t>
            </a:r>
            <a:r>
              <a:rPr lang="pl-PL" noProof="0" dirty="0" err="1"/>
              <a:t>ground_truth</a:t>
            </a:r>
            <a:r>
              <a:rPr lang="pl-PL" noProof="0" dirty="0"/>
              <a:t>, </a:t>
            </a:r>
            <a:r>
              <a:rPr lang="pl-PL" noProof="0" dirty="0" err="1"/>
              <a:t>category</a:t>
            </a:r>
            <a:endParaRPr lang="pl-PL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Rozkład klas (data/</a:t>
            </a:r>
            <a:r>
              <a:rPr lang="pl-PL" noProof="0" dirty="0" err="1"/>
              <a:t>data.json</a:t>
            </a:r>
            <a:r>
              <a:rPr lang="pl-PL" noProof="0" dirty="0"/>
              <a:t>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743586"/>
              </p:ext>
            </p:extLst>
          </p:nvPr>
        </p:nvGraphicFramePr>
        <p:xfrm>
          <a:off x="731520" y="1841500"/>
          <a:ext cx="9479280" cy="419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215900"/>
            <a:ext cx="3475228" cy="1657350"/>
          </a:xfrm>
        </p:spPr>
        <p:txBody>
          <a:bodyPr/>
          <a:lstStyle/>
          <a:p>
            <a:r>
              <a:rPr lang="pl-PL" noProof="0" dirty="0"/>
              <a:t>Kategorie wiadomości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50268"/>
              </p:ext>
            </p:extLst>
          </p:nvPr>
        </p:nvGraphicFramePr>
        <p:xfrm>
          <a:off x="5175250" y="451229"/>
          <a:ext cx="563245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Kategoria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Liczba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invoice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education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social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community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delivery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travel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work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tax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account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health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gaming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crypto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meeting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hr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404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shopping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838" y="365760"/>
            <a:ext cx="10312674" cy="1325562"/>
          </a:xfrm>
        </p:spPr>
        <p:txBody>
          <a:bodyPr/>
          <a:lstStyle/>
          <a:p>
            <a:r>
              <a:rPr lang="pl-PL" noProof="0" dirty="0"/>
              <a:t>Cechy </a:t>
            </a:r>
            <a:r>
              <a:rPr lang="pl-PL" noProof="0" dirty="0" err="1"/>
              <a:t>phishing</a:t>
            </a:r>
            <a:r>
              <a:rPr lang="pl-PL" noProof="0" dirty="0"/>
              <a:t> vs </a:t>
            </a:r>
            <a:r>
              <a:rPr lang="pl-PL" noProof="0" dirty="0" err="1"/>
              <a:t>legit</a:t>
            </a:r>
            <a:endParaRPr lang="pl-P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810022"/>
            <a:ext cx="4070345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pl-PL" noProof="0" dirty="0"/>
              <a:t>PHISHING:</a:t>
            </a:r>
          </a:p>
          <a:p>
            <a:pPr>
              <a:defRPr sz="2000"/>
            </a:pPr>
            <a:r>
              <a:rPr lang="pl-PL" noProof="0" dirty="0"/>
              <a:t>- presja czasu</a:t>
            </a:r>
          </a:p>
          <a:p>
            <a:pPr>
              <a:defRPr sz="2000"/>
            </a:pPr>
            <a:r>
              <a:rPr lang="pl-PL" noProof="0" dirty="0"/>
              <a:t>- podejrzane domeny/linki</a:t>
            </a:r>
          </a:p>
          <a:p>
            <a:pPr>
              <a:defRPr sz="2000"/>
            </a:pPr>
            <a:r>
              <a:rPr lang="pl-PL" noProof="0" dirty="0"/>
              <a:t>- prośba o kod SMS/APLIKACJA</a:t>
            </a:r>
          </a:p>
          <a:p>
            <a:pPr>
              <a:defRPr sz="2000"/>
            </a:pPr>
            <a:r>
              <a:rPr lang="pl-PL" noProof="0" dirty="0"/>
              <a:t>- narracja o blokadzie usługi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962" y="2722098"/>
            <a:ext cx="4471096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pl-PL" noProof="0" dirty="0"/>
              <a:t>LEGIT:</a:t>
            </a:r>
          </a:p>
          <a:p>
            <a:pPr>
              <a:defRPr sz="2000"/>
            </a:pPr>
            <a:r>
              <a:rPr lang="pl-PL" noProof="0" dirty="0"/>
              <a:t>- spójność domeny nadawcy i linku</a:t>
            </a:r>
          </a:p>
          <a:p>
            <a:pPr>
              <a:defRPr sz="2000"/>
            </a:pPr>
            <a:r>
              <a:rPr lang="pl-PL" noProof="0" dirty="0"/>
              <a:t>- neutralny ton, brak gróźb</a:t>
            </a:r>
          </a:p>
          <a:p>
            <a:pPr>
              <a:defRPr sz="2000"/>
            </a:pPr>
            <a:r>
              <a:rPr lang="pl-PL" noProof="0" dirty="0"/>
              <a:t>- brak pro</a:t>
            </a:r>
            <a:r>
              <a:rPr lang="pl-PL" dirty="0"/>
              <a:t>ś</a:t>
            </a:r>
            <a:r>
              <a:rPr lang="pl-PL" noProof="0" dirty="0"/>
              <a:t>b o hasła/kody</a:t>
            </a:r>
          </a:p>
          <a:p>
            <a:pPr>
              <a:defRPr sz="2000"/>
            </a:pPr>
            <a:r>
              <a:rPr lang="pl-PL" noProof="0" dirty="0"/>
              <a:t>- treści organizacyjne i informacyjne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Metodologia ewaluacji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Uruchomienia modeli na tym samym zbiorze testowym.</a:t>
            </a:r>
          </a:p>
          <a:p>
            <a:pPr>
              <a:defRPr sz="2200"/>
            </a:pPr>
            <a:r>
              <a:rPr lang="pl-PL" noProof="0" dirty="0"/>
              <a:t>Porównanie predykcji z </a:t>
            </a:r>
            <a:r>
              <a:rPr lang="pl-PL" noProof="0" dirty="0" err="1"/>
              <a:t>ground_truth</a:t>
            </a:r>
            <a:r>
              <a:rPr lang="pl-PL" noProof="0" dirty="0"/>
              <a:t>.</a:t>
            </a:r>
          </a:p>
          <a:p>
            <a:pPr>
              <a:defRPr sz="2200"/>
            </a:pPr>
            <a:r>
              <a:rPr lang="pl-PL" noProof="0" dirty="0"/>
              <a:t>Obliczenie </a:t>
            </a:r>
            <a:r>
              <a:rPr lang="pl-PL" noProof="0" dirty="0" err="1"/>
              <a:t>Accuracy</a:t>
            </a:r>
            <a:r>
              <a:rPr lang="pl-PL" noProof="0" dirty="0"/>
              <a:t>, Precision, </a:t>
            </a:r>
            <a:r>
              <a:rPr lang="pl-PL" noProof="0" dirty="0" err="1"/>
              <a:t>Recall</a:t>
            </a:r>
            <a:r>
              <a:rPr lang="pl-PL" noProof="0" dirty="0"/>
              <a:t>, F1.</a:t>
            </a:r>
          </a:p>
          <a:p>
            <a:pPr>
              <a:defRPr sz="2200"/>
            </a:pPr>
            <a:r>
              <a:rPr lang="pl-PL" noProof="0" dirty="0"/>
              <a:t>Analiza macierzy pomyłek i konsekwencji operacyjnych.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Metryki i ich znaczenie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693079"/>
              </p:ext>
            </p:extLst>
          </p:nvPr>
        </p:nvGraphicFramePr>
        <p:xfrm>
          <a:off x="908050" y="1919166"/>
          <a:ext cx="8783516" cy="446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1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1742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Metryka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Interpretacja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Accuracy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Jaki procent klasyfikacji jest poprawny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Ile alarmów </a:t>
                      </a:r>
                      <a:r>
                        <a:rPr lang="pl-PL" noProof="0" dirty="0" err="1"/>
                        <a:t>phishing</a:t>
                      </a:r>
                      <a:r>
                        <a:rPr lang="pl-PL" noProof="0" dirty="0"/>
                        <a:t> jest trafnych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Recall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Ile realnych </a:t>
                      </a:r>
                      <a:r>
                        <a:rPr lang="pl-PL" noProof="0" dirty="0" err="1"/>
                        <a:t>phishingow</a:t>
                      </a:r>
                      <a:r>
                        <a:rPr lang="pl-PL" noProof="0" dirty="0"/>
                        <a:t> wykryto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Balans precision i </a:t>
                      </a:r>
                      <a:r>
                        <a:rPr lang="pl-PL" noProof="0" dirty="0" err="1"/>
                        <a:t>recall</a:t>
                      </a:r>
                      <a:endParaRPr lang="pl-PL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FP/FN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Koszt fałszywych alarmów i pomiętych ataków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155309"/>
          </a:xfrm>
        </p:spPr>
        <p:txBody>
          <a:bodyPr/>
          <a:lstStyle/>
          <a:p>
            <a:r>
              <a:rPr lang="pl-PL" noProof="0" dirty="0"/>
              <a:t>Wyniki </a:t>
            </a:r>
            <a:r>
              <a:rPr lang="pl-PL" noProof="0" dirty="0" err="1"/>
              <a:t>glowne</a:t>
            </a:r>
            <a:endParaRPr lang="pl-PL" noProof="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095197"/>
              </p:ext>
            </p:extLst>
          </p:nvPr>
        </p:nvGraphicFramePr>
        <p:xfrm>
          <a:off x="729761" y="1802423"/>
          <a:ext cx="9355014" cy="459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9762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 err="1"/>
                        <a:t>Accuracy</a:t>
                      </a:r>
                      <a:r>
                        <a:rPr lang="pl-PL" noProof="0" dirty="0"/>
                        <a:t>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 err="1"/>
                        <a:t>Recall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723">
                <a:tc>
                  <a:txBody>
                    <a:bodyPr/>
                    <a:lstStyle/>
                    <a:p>
                      <a:r>
                        <a:t>Bielik 11B (4-bit)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723">
                <a:tc>
                  <a:txBody>
                    <a:bodyPr/>
                    <a:lstStyle/>
                    <a:p>
                      <a:r>
                        <a:t>Gemini 2.5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0.9766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723">
                <a:tc>
                  <a:txBody>
                    <a:bodyPr/>
                    <a:lstStyle/>
                    <a:p>
                      <a:r>
                        <a:t>GPT-4.1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723">
                <a:tc>
                  <a:txBody>
                    <a:bodyPr/>
                    <a:lstStyle/>
                    <a:p>
                      <a:r>
                        <a:t>Llama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723">
                <a:tc>
                  <a:txBody>
                    <a:bodyPr/>
                    <a:lstStyle/>
                    <a:p>
                      <a:r>
                        <a:t>Mistral 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Porównanie </a:t>
            </a:r>
            <a:r>
              <a:rPr lang="pl-PL" noProof="0" dirty="0" err="1"/>
              <a:t>Accuracy</a:t>
            </a:r>
            <a:r>
              <a:rPr lang="pl-PL" noProof="0" dirty="0"/>
              <a:t> [%]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6295"/>
              </p:ext>
            </p:extLst>
          </p:nvPr>
        </p:nvGraphicFramePr>
        <p:xfrm>
          <a:off x="731520" y="1811214"/>
          <a:ext cx="9692640" cy="422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Macierze pomy</a:t>
            </a:r>
            <a:r>
              <a:rPr lang="pl-PL" dirty="0"/>
              <a:t>ł</a:t>
            </a:r>
            <a:r>
              <a:rPr lang="pl-PL" noProof="0" dirty="0" err="1"/>
              <a:t>ek</a:t>
            </a:r>
            <a:endParaRPr lang="pl-PL" noProof="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152094"/>
              </p:ext>
            </p:extLst>
          </p:nvPr>
        </p:nvGraphicFramePr>
        <p:xfrm>
          <a:off x="457200" y="2013438"/>
          <a:ext cx="9794630" cy="4387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8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227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pl-PL" noProof="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Gemini</a:t>
                      </a:r>
                      <a:r>
                        <a:rPr lang="pl-PL" noProof="0" dirty="0"/>
                        <a:t> 2.5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GPT-4.1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 err="1"/>
                        <a:t>Llama</a:t>
                      </a:r>
                      <a:r>
                        <a:rPr lang="pl-PL" noProof="0" dirty="0"/>
                        <a:t> </a:t>
                      </a:r>
                      <a:r>
                        <a:rPr lang="pl-PL" noProof="0" dirty="0" err="1"/>
                        <a:t>Cloud</a:t>
                      </a:r>
                      <a:endParaRPr lang="pl-P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Mistral 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227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Bielik 11B (4-bit)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pl-PL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Interpretacja FP/FN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Wszystkie modele maja bardzo wysoki </a:t>
            </a:r>
            <a:r>
              <a:rPr lang="pl-PL" noProof="0" dirty="0" err="1"/>
              <a:t>recall</a:t>
            </a:r>
            <a:r>
              <a:rPr lang="pl-PL" noProof="0" dirty="0"/>
              <a:t> </a:t>
            </a:r>
            <a:r>
              <a:rPr lang="pl-PL" noProof="0" dirty="0" err="1"/>
              <a:t>phishing</a:t>
            </a:r>
            <a:r>
              <a:rPr lang="pl-PL" noProof="0" dirty="0"/>
              <a:t>.</a:t>
            </a:r>
          </a:p>
          <a:p>
            <a:pPr>
              <a:defRPr sz="2200"/>
            </a:pPr>
            <a:r>
              <a:rPr lang="pl-PL" noProof="0" dirty="0"/>
              <a:t>Dominuje problem </a:t>
            </a:r>
            <a:r>
              <a:rPr lang="pl-PL" noProof="0" dirty="0" err="1"/>
              <a:t>false</a:t>
            </a:r>
            <a:r>
              <a:rPr lang="pl-PL" noProof="0" dirty="0"/>
              <a:t> </a:t>
            </a:r>
            <a:r>
              <a:rPr lang="pl-PL" noProof="0" dirty="0" err="1"/>
              <a:t>positives</a:t>
            </a:r>
            <a:r>
              <a:rPr lang="pl-PL" noProof="0" dirty="0"/>
              <a:t>, nie </a:t>
            </a:r>
            <a:r>
              <a:rPr lang="pl-PL" noProof="0" dirty="0" err="1"/>
              <a:t>false</a:t>
            </a:r>
            <a:r>
              <a:rPr lang="pl-PL" noProof="0" dirty="0"/>
              <a:t> </a:t>
            </a:r>
            <a:r>
              <a:rPr lang="pl-PL" noProof="0" dirty="0" err="1"/>
              <a:t>negatives</a:t>
            </a:r>
            <a:r>
              <a:rPr lang="pl-PL" noProof="0" dirty="0"/>
              <a:t>.</a:t>
            </a:r>
          </a:p>
          <a:p>
            <a:pPr>
              <a:defRPr sz="2200"/>
            </a:pPr>
            <a:r>
              <a:rPr lang="pl-PL" noProof="0" dirty="0"/>
              <a:t>W praktyce: więcej alertów do ręcznej weryfikacji.</a:t>
            </a:r>
          </a:p>
          <a:p>
            <a:pPr>
              <a:defRPr sz="2200"/>
            </a:pPr>
            <a:r>
              <a:rPr lang="pl-PL" noProof="0" dirty="0"/>
              <a:t>Największy narzut operacyjny: Mistral i </a:t>
            </a:r>
            <a:r>
              <a:rPr lang="pl-PL" noProof="0" dirty="0" err="1"/>
              <a:t>Llama</a:t>
            </a:r>
            <a:r>
              <a:rPr lang="pl-PL" noProof="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Model: </a:t>
            </a:r>
            <a:r>
              <a:rPr lang="pl-PL" noProof="0" dirty="0" err="1"/>
              <a:t>Gemini</a:t>
            </a:r>
            <a:r>
              <a:rPr lang="pl-PL" noProof="0" dirty="0"/>
              <a:t> 2.5 Pro</a:t>
            </a:r>
          </a:p>
        </p:txBody>
      </p:sp>
      <p:sp>
        <p:nvSpPr>
          <p:cNvPr id="3" name="Rectangle 2"/>
          <p:cNvSpPr/>
          <p:nvPr/>
        </p:nvSpPr>
        <p:spPr>
          <a:xfrm>
            <a:off x="235458" y="1691322"/>
            <a:ext cx="10789920" cy="448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lang="pl-PL" noProof="0" dirty="0" err="1">
                <a:solidFill>
                  <a:schemeClr val="tx1"/>
                </a:solidFill>
              </a:rPr>
              <a:t>Accuracy</a:t>
            </a:r>
            <a:r>
              <a:rPr lang="pl-PL" noProof="0" dirty="0">
                <a:solidFill>
                  <a:schemeClr val="tx1"/>
                </a:solidFill>
              </a:rPr>
              <a:t> 97.6% | F1 0.9766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tx1"/>
                </a:solidFill>
              </a:rPr>
              <a:t>Najlepszy wynik </a:t>
            </a:r>
            <a:r>
              <a:rPr lang="pl-PL" noProof="0" dirty="0" err="1">
                <a:solidFill>
                  <a:schemeClr val="tx1"/>
                </a:solidFill>
              </a:rPr>
              <a:t>wsród</a:t>
            </a:r>
            <a:r>
              <a:rPr lang="pl-PL" noProof="0" dirty="0">
                <a:solidFill>
                  <a:schemeClr val="tx1"/>
                </a:solidFill>
              </a:rPr>
              <a:t> modeli API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tx1"/>
                </a:solidFill>
              </a:rPr>
              <a:t>Bardzo niski poziom </a:t>
            </a:r>
            <a:r>
              <a:rPr lang="pl-PL" noProof="0" dirty="0" err="1">
                <a:solidFill>
                  <a:schemeClr val="tx1"/>
                </a:solidFill>
              </a:rPr>
              <a:t>false</a:t>
            </a:r>
            <a:r>
              <a:rPr lang="pl-PL" noProof="0" dirty="0">
                <a:solidFill>
                  <a:schemeClr val="tx1"/>
                </a:solidFill>
              </a:rPr>
              <a:t> </a:t>
            </a:r>
            <a:r>
              <a:rPr lang="pl-PL" noProof="0" dirty="0" err="1">
                <a:solidFill>
                  <a:schemeClr val="tx1"/>
                </a:solidFill>
              </a:rPr>
              <a:t>positives</a:t>
            </a:r>
            <a:endParaRPr lang="pl-PL" noProof="0" dirty="0">
              <a:solidFill>
                <a:schemeClr val="tx1"/>
              </a:solidFill>
            </a:endParaRPr>
          </a:p>
          <a:p>
            <a:pPr>
              <a:defRPr sz="2000" b="0"/>
            </a:pPr>
            <a:r>
              <a:rPr lang="pl-PL" noProof="0" dirty="0">
                <a:solidFill>
                  <a:schemeClr val="tx1"/>
                </a:solidFill>
              </a:rPr>
              <a:t>Dobra podstawa do </a:t>
            </a:r>
            <a:r>
              <a:rPr lang="pl-PL" noProof="0" dirty="0" err="1">
                <a:solidFill>
                  <a:schemeClr val="tx1"/>
                </a:solidFill>
              </a:rPr>
              <a:t>wdro</a:t>
            </a:r>
            <a:r>
              <a:rPr lang="pl-PL" dirty="0">
                <a:solidFill>
                  <a:schemeClr val="tx1"/>
                </a:solidFill>
              </a:rPr>
              <a:t>ż</a:t>
            </a:r>
            <a:r>
              <a:rPr lang="pl-PL" noProof="0" dirty="0">
                <a:solidFill>
                  <a:schemeClr val="tx1"/>
                </a:solidFill>
              </a:rPr>
              <a:t>eń nastawionych na jakość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Model: GPT-4.1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632" y="1853419"/>
            <a:ext cx="10789920" cy="448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lang="pl-PL" noProof="0" dirty="0" err="1">
                <a:solidFill>
                  <a:schemeClr val="accent6">
                    <a:lumMod val="50000"/>
                  </a:schemeClr>
                </a:solidFill>
              </a:rPr>
              <a:t>Accuracy</a:t>
            </a: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 95.6% | F1 0.9578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Bardzo wysoka skuteczność i stabilne uzasadnienia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Silny punkt odniesienia dla testów porównawczych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Nieco wyższe FP niż </a:t>
            </a:r>
            <a:r>
              <a:rPr lang="pl-PL" noProof="0" dirty="0" err="1">
                <a:solidFill>
                  <a:schemeClr val="accent6">
                    <a:lumMod val="50000"/>
                  </a:schemeClr>
                </a:solidFill>
              </a:rPr>
              <a:t>Gemini</a:t>
            </a:r>
            <a:endParaRPr lang="pl-PL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Model: Bielik 11B (4-bit)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15392" y="1879795"/>
            <a:ext cx="10789920" cy="448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8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Accuracy 98.2% | F1 0.9823</a:t>
            </a:r>
          </a:p>
          <a:p>
            <a:r>
              <a:rPr dirty="0" err="1">
                <a:solidFill>
                  <a:schemeClr val="tx1"/>
                </a:solidFill>
              </a:rPr>
              <a:t>Najwy</a:t>
            </a:r>
            <a:r>
              <a:rPr lang="pl-PL" dirty="0">
                <a:solidFill>
                  <a:schemeClr val="tx1"/>
                </a:solidFill>
              </a:rPr>
              <a:t>ż</a:t>
            </a:r>
            <a:r>
              <a:rPr dirty="0" err="1">
                <a:solidFill>
                  <a:schemeClr val="tx1"/>
                </a:solidFill>
              </a:rPr>
              <a:t>sza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skuteczno</a:t>
            </a:r>
            <a:r>
              <a:rPr lang="pl-PL" dirty="0" err="1">
                <a:solidFill>
                  <a:schemeClr val="tx1"/>
                </a:solidFill>
              </a:rPr>
              <a:t>ść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wsr</a:t>
            </a:r>
            <a:r>
              <a:rPr lang="pl-PL" dirty="0">
                <a:solidFill>
                  <a:schemeClr val="tx1"/>
                </a:solidFill>
              </a:rPr>
              <a:t>ó</a:t>
            </a:r>
            <a:r>
              <a:rPr dirty="0">
                <a:solidFill>
                  <a:schemeClr val="tx1"/>
                </a:solidFill>
              </a:rPr>
              <a:t>d </a:t>
            </a:r>
            <a:r>
              <a:rPr dirty="0" err="1">
                <a:solidFill>
                  <a:schemeClr val="tx1"/>
                </a:solidFill>
              </a:rPr>
              <a:t>testowanych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modeli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Bardzo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dobry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kierunek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dla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scenariuszy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polskojezycznych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Model: </a:t>
            </a:r>
            <a:r>
              <a:rPr lang="pl-PL" noProof="0" dirty="0" err="1"/>
              <a:t>Llama</a:t>
            </a:r>
            <a:r>
              <a:rPr lang="pl-PL" noProof="0" dirty="0"/>
              <a:t> </a:t>
            </a:r>
            <a:r>
              <a:rPr lang="pl-PL" noProof="0" dirty="0" err="1"/>
              <a:t>Cloud</a:t>
            </a:r>
            <a:endParaRPr lang="pl-PL" noProof="0" dirty="0"/>
          </a:p>
        </p:txBody>
      </p:sp>
      <p:sp>
        <p:nvSpPr>
          <p:cNvPr id="3" name="Rectangle 2"/>
          <p:cNvSpPr/>
          <p:nvPr/>
        </p:nvSpPr>
        <p:spPr>
          <a:xfrm>
            <a:off x="164592" y="1800665"/>
            <a:ext cx="10789920" cy="448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lang="pl-PL" noProof="0" dirty="0" err="1">
                <a:solidFill>
                  <a:schemeClr val="accent6">
                    <a:lumMod val="50000"/>
                  </a:schemeClr>
                </a:solidFill>
              </a:rPr>
              <a:t>Accuracy</a:t>
            </a: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 73.49% | macro F1 0.7156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Średni czas odpowiedzi: 19069.92 ms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Bardzo wysoki </a:t>
            </a:r>
            <a:r>
              <a:rPr lang="pl-PL" noProof="0" dirty="0" err="1">
                <a:solidFill>
                  <a:schemeClr val="accent6">
                    <a:lumMod val="50000"/>
                  </a:schemeClr>
                </a:solidFill>
              </a:rPr>
              <a:t>recall</a:t>
            </a: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pl-PL" noProof="0" dirty="0" err="1">
                <a:solidFill>
                  <a:schemeClr val="accent6">
                    <a:lumMod val="50000"/>
                  </a:schemeClr>
                </a:solidFill>
              </a:rPr>
              <a:t>phishing</a:t>
            </a:r>
            <a:r>
              <a:rPr lang="pl-PL" noProof="0" dirty="0">
                <a:solidFill>
                  <a:schemeClr val="accent6">
                    <a:lumMod val="50000"/>
                  </a:schemeClr>
                </a:solidFill>
              </a:rPr>
              <a:t>, ale dużo FP</a:t>
            </a:r>
          </a:p>
          <a:p>
            <a:pPr>
              <a:defRPr sz="2000" b="0"/>
            </a:pPr>
            <a:endParaRPr lang="pl-PL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Model: Mistral 7B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691322"/>
            <a:ext cx="10789920" cy="4480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80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lang="pl-PL" noProof="0" dirty="0" err="1">
                <a:solidFill>
                  <a:schemeClr val="tx1"/>
                </a:solidFill>
              </a:rPr>
              <a:t>Accuracy</a:t>
            </a:r>
            <a:r>
              <a:rPr lang="pl-PL" noProof="0" dirty="0">
                <a:solidFill>
                  <a:schemeClr val="tx1"/>
                </a:solidFill>
              </a:rPr>
              <a:t> 71.4%</a:t>
            </a:r>
          </a:p>
          <a:p>
            <a:pPr>
              <a:defRPr sz="2000" b="0"/>
            </a:pPr>
            <a:r>
              <a:rPr lang="pl-PL" noProof="0" dirty="0" err="1">
                <a:solidFill>
                  <a:schemeClr val="tx1"/>
                </a:solidFill>
              </a:rPr>
              <a:t>Najwy</a:t>
            </a:r>
            <a:r>
              <a:rPr lang="pl-PL" dirty="0">
                <a:solidFill>
                  <a:schemeClr val="tx1"/>
                </a:solidFill>
              </a:rPr>
              <a:t>ż</a:t>
            </a:r>
            <a:r>
              <a:rPr lang="pl-PL" noProof="0" dirty="0">
                <a:solidFill>
                  <a:schemeClr val="tx1"/>
                </a:solidFill>
              </a:rPr>
              <a:t>sza liczba </a:t>
            </a:r>
            <a:r>
              <a:rPr lang="pl-PL" noProof="0" dirty="0" err="1">
                <a:solidFill>
                  <a:schemeClr val="tx1"/>
                </a:solidFill>
              </a:rPr>
              <a:t>false</a:t>
            </a:r>
            <a:r>
              <a:rPr lang="pl-PL" noProof="0" dirty="0">
                <a:solidFill>
                  <a:schemeClr val="tx1"/>
                </a:solidFill>
              </a:rPr>
              <a:t> </a:t>
            </a:r>
            <a:r>
              <a:rPr lang="pl-PL" noProof="0" dirty="0" err="1">
                <a:solidFill>
                  <a:schemeClr val="tx1"/>
                </a:solidFill>
              </a:rPr>
              <a:t>positives</a:t>
            </a:r>
            <a:r>
              <a:rPr lang="pl-PL" noProof="0" dirty="0">
                <a:solidFill>
                  <a:schemeClr val="tx1"/>
                </a:solidFill>
              </a:rPr>
              <a:t> </a:t>
            </a:r>
            <a:r>
              <a:rPr lang="pl-PL" noProof="0" dirty="0" err="1">
                <a:solidFill>
                  <a:schemeClr val="tx1"/>
                </a:solidFill>
              </a:rPr>
              <a:t>wsród</a:t>
            </a:r>
            <a:r>
              <a:rPr lang="pl-PL" noProof="0" dirty="0">
                <a:solidFill>
                  <a:schemeClr val="tx1"/>
                </a:solidFill>
              </a:rPr>
              <a:t> raportów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tx1"/>
                </a:solidFill>
              </a:rPr>
              <a:t>Model lokalny, potencjalnie niższy koszt API</a:t>
            </a:r>
          </a:p>
          <a:p>
            <a:pPr>
              <a:defRPr sz="2000" b="0"/>
            </a:pPr>
            <a:r>
              <a:rPr lang="pl-PL" noProof="0" dirty="0">
                <a:solidFill>
                  <a:schemeClr val="tx1"/>
                </a:solidFill>
              </a:rPr>
              <a:t>Wymaga dalszego strojenia i kalibracji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Rekomendacje praktyczne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l-PL" noProof="0" dirty="0"/>
              <a:t>Jeżeli priorytetem jest jakość: </a:t>
            </a:r>
            <a:r>
              <a:rPr lang="pl-PL" noProof="0" dirty="0" err="1"/>
              <a:t>Gemini</a:t>
            </a:r>
            <a:r>
              <a:rPr lang="pl-PL" noProof="0" dirty="0"/>
              <a:t> 2.5 Pro / GPT-4.1.</a:t>
            </a:r>
          </a:p>
          <a:p>
            <a:pPr>
              <a:defRPr sz="2200"/>
            </a:pPr>
            <a:r>
              <a:rPr lang="pl-PL" noProof="0" dirty="0"/>
              <a:t>Jeżeli priorytetem jest prywatność: </a:t>
            </a:r>
            <a:r>
              <a:rPr lang="pl-PL" noProof="0" dirty="0" err="1"/>
              <a:t>localne</a:t>
            </a:r>
            <a:r>
              <a:rPr lang="pl-PL" noProof="0" dirty="0"/>
              <a:t> </a:t>
            </a:r>
            <a:r>
              <a:rPr lang="pl-PL" noProof="0" dirty="0" err="1"/>
              <a:t>mode</a:t>
            </a:r>
            <a:r>
              <a:rPr lang="pl-PL" dirty="0"/>
              <a:t>le Mistral, </a:t>
            </a:r>
            <a:r>
              <a:rPr lang="pl-PL" dirty="0" err="1"/>
              <a:t>Llama</a:t>
            </a:r>
            <a:r>
              <a:rPr lang="pl-PL" dirty="0"/>
              <a:t> czy Bielik2</a:t>
            </a:r>
            <a:endParaRPr lang="pl-PL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Ograniczenia badania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Eksperyment oparto na zbiorze własnym liczącym 500 próbek, co ogranicza reprezentatywność wyników.</a:t>
            </a:r>
          </a:p>
          <a:p>
            <a:r>
              <a:rPr lang="pl-PL" dirty="0"/>
              <a:t>Pomiar czasu odpowiedzi nie był w pełni ujednolicony, co utrudnia bezpośrednie porównanie latencji między modelami.</a:t>
            </a:r>
          </a:p>
          <a:p>
            <a:r>
              <a:rPr lang="pl-PL" dirty="0"/>
              <a:t>Wyniki wymagają weryfikacji na niezależnych, publicznie dostępnych zbiorach e-maili </a:t>
            </a:r>
            <a:r>
              <a:rPr lang="pl-PL" dirty="0" err="1"/>
              <a:t>phishingowych</a:t>
            </a:r>
            <a:r>
              <a:rPr lang="pl-PL" dirty="0"/>
              <a:t>.</a:t>
            </a:r>
          </a:p>
          <a:p>
            <a:r>
              <a:rPr lang="pl-PL" dirty="0"/>
              <a:t>Zachowanie modeli pod rzeczywistym obciążeniem produkcyjnym nie zostało w pełni zbadane i wymaga dalszej analizy.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Kierunki dalszych prac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Rozszerzenie</a:t>
            </a:r>
            <a:r>
              <a:rPr dirty="0"/>
              <a:t> </a:t>
            </a:r>
            <a:r>
              <a:rPr dirty="0" err="1"/>
              <a:t>zbioru</a:t>
            </a:r>
            <a:r>
              <a:rPr dirty="0"/>
              <a:t> o </a:t>
            </a:r>
            <a:r>
              <a:rPr lang="pl-PL" dirty="0"/>
              <a:t>nowe bazy danych </a:t>
            </a:r>
            <a:r>
              <a:rPr dirty="0"/>
              <a:t>phishing</a:t>
            </a:r>
            <a:r>
              <a:rPr lang="pl-PL" dirty="0"/>
              <a:t>ó</a:t>
            </a:r>
            <a:r>
              <a:rPr dirty="0"/>
              <a:t>w.</a:t>
            </a:r>
          </a:p>
          <a:p>
            <a:r>
              <a:rPr dirty="0" err="1"/>
              <a:t>Dalsza</a:t>
            </a:r>
            <a:r>
              <a:rPr dirty="0"/>
              <a:t> </a:t>
            </a:r>
            <a:r>
              <a:rPr dirty="0" err="1"/>
              <a:t>optymalizacja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automatyzacja</a:t>
            </a:r>
            <a:r>
              <a:rPr lang="pl-PL" dirty="0"/>
              <a:t> modeli</a:t>
            </a:r>
            <a:r>
              <a:rPr dirty="0"/>
              <a:t>.</a:t>
            </a:r>
          </a:p>
          <a:p>
            <a:r>
              <a:rPr lang="pl-PL" dirty="0"/>
              <a:t>Głębsza analiza</a:t>
            </a:r>
            <a:r>
              <a:rPr dirty="0"/>
              <a:t>:</a:t>
            </a:r>
            <a:r>
              <a:rPr lang="pl-PL" dirty="0"/>
              <a:t> linki</a:t>
            </a:r>
            <a:r>
              <a:rPr dirty="0"/>
              <a:t>, za</a:t>
            </a:r>
            <a:r>
              <a:rPr lang="pl-PL" dirty="0" err="1"/>
              <a:t>łą</a:t>
            </a:r>
            <a:r>
              <a:rPr dirty="0" err="1"/>
              <a:t>czniki</a:t>
            </a:r>
            <a:r>
              <a:rPr dirty="0"/>
              <a:t>, </a:t>
            </a:r>
            <a:r>
              <a:rPr dirty="0" err="1"/>
              <a:t>metadane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Podsumowanie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9870" y="1776730"/>
            <a:ext cx="10789920" cy="4480560"/>
          </a:xfrm>
          <a:prstGeom prst="rect">
            <a:avLst/>
          </a:prstGeom>
          <a:solidFill>
            <a:srgbClr val="F5F9FF"/>
          </a:solidFill>
          <a:ln>
            <a:solidFill>
              <a:srgbClr val="1E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rPr dirty="0">
                <a:solidFill>
                  <a:schemeClr val="tx1"/>
                </a:solidFill>
              </a:rPr>
              <a:t>System </a:t>
            </a:r>
            <a:r>
              <a:rPr dirty="0" err="1">
                <a:solidFill>
                  <a:schemeClr val="tx1"/>
                </a:solidFill>
              </a:rPr>
              <a:t>dzia</a:t>
            </a:r>
            <a:r>
              <a:rPr lang="pl-PL" dirty="0">
                <a:solidFill>
                  <a:schemeClr val="tx1"/>
                </a:solidFill>
              </a:rPr>
              <a:t>ł</a:t>
            </a:r>
            <a:r>
              <a:rPr dirty="0">
                <a:solidFill>
                  <a:schemeClr val="tx1"/>
                </a:solidFill>
              </a:rPr>
              <a:t>a </a:t>
            </a:r>
            <a:r>
              <a:rPr dirty="0" err="1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 jest </a:t>
            </a:r>
            <a:r>
              <a:rPr dirty="0" err="1">
                <a:solidFill>
                  <a:schemeClr val="tx1"/>
                </a:solidFill>
              </a:rPr>
              <a:t>gotowy</a:t>
            </a:r>
            <a:r>
              <a:rPr dirty="0">
                <a:solidFill>
                  <a:schemeClr val="tx1"/>
                </a:solidFill>
              </a:rPr>
              <a:t> do </a:t>
            </a:r>
            <a:r>
              <a:rPr dirty="0" err="1">
                <a:solidFill>
                  <a:schemeClr val="tx1"/>
                </a:solidFill>
              </a:rPr>
              <a:t>dalszego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rozwoju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r>
              <a:rPr dirty="0" err="1">
                <a:solidFill>
                  <a:schemeClr val="tx1"/>
                </a:solidFill>
              </a:rPr>
              <a:t>Najmocniejsze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wyniki</a:t>
            </a:r>
            <a:r>
              <a:rPr dirty="0">
                <a:solidFill>
                  <a:schemeClr val="tx1"/>
                </a:solidFill>
              </a:rPr>
              <a:t>: Bielik 11B (4-bit), Gemini 2.5 Pro, GPT-4.1.</a:t>
            </a:r>
          </a:p>
          <a:p>
            <a:r>
              <a:rPr dirty="0" err="1">
                <a:solidFill>
                  <a:schemeClr val="tx1"/>
                </a:solidFill>
              </a:rPr>
              <a:t>Kluczowe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wyzwanie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ograniczanie</a:t>
            </a:r>
            <a:r>
              <a:rPr dirty="0">
                <a:solidFill>
                  <a:schemeClr val="tx1"/>
                </a:solidFill>
              </a:rPr>
              <a:t> false positives.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noProof="0" dirty="0"/>
              <a:t>Dziękuje za uwagę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noProof="0" dirty="0"/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dok">
  <a:themeElements>
    <a:clrScheme name="Widok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Wid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idok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TM03457515[[fn=Widok]]</Template>
  <TotalTime>252</TotalTime>
  <Words>961</Words>
  <Application>Microsoft Office PowerPoint</Application>
  <PresentationFormat>Panoramiczny</PresentationFormat>
  <Paragraphs>269</Paragraphs>
  <Slides>35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35</vt:i4>
      </vt:variant>
    </vt:vector>
  </HeadingPairs>
  <TitlesOfParts>
    <vt:vector size="39" baseType="lpstr">
      <vt:lpstr>Arial</vt:lpstr>
      <vt:lpstr>Century Schoolbook</vt:lpstr>
      <vt:lpstr>Wingdings 2</vt:lpstr>
      <vt:lpstr>Widok</vt:lpstr>
      <vt:lpstr>Analiza porównawcza skuteczności modeli językowych w wykrywaniu wiadomości phishingowych</vt:lpstr>
      <vt:lpstr>Agenda</vt:lpstr>
      <vt:lpstr>Dlaczego phishing to realny problem</vt:lpstr>
      <vt:lpstr>Cel pracy</vt:lpstr>
      <vt:lpstr>Pytania badawcze i hipotezy</vt:lpstr>
      <vt:lpstr>Zakres i charakterystyka projektu</vt:lpstr>
      <vt:lpstr>Sposób działania apliakcji</vt:lpstr>
      <vt:lpstr>Prezentacja programu PowerPoint</vt:lpstr>
      <vt:lpstr>Prezentacja programu PowerPoint</vt:lpstr>
      <vt:lpstr>Prezentacja programu PowerPoint</vt:lpstr>
      <vt:lpstr>Prezentacja programu PowerPoint</vt:lpstr>
      <vt:lpstr>Backend FastAPI</vt:lpstr>
      <vt:lpstr>Frontend Angular</vt:lpstr>
      <vt:lpstr>Modele w systemie</vt:lpstr>
      <vt:lpstr>Kontrakt API /analyze</vt:lpstr>
      <vt:lpstr>Zbiór danych</vt:lpstr>
      <vt:lpstr>Rozkład klas (data/data.json)</vt:lpstr>
      <vt:lpstr>Kategorie wiadomości</vt:lpstr>
      <vt:lpstr>Cechy phishing vs legit</vt:lpstr>
      <vt:lpstr>Metodologia ewaluacji</vt:lpstr>
      <vt:lpstr>Metryki i ich znaczenie</vt:lpstr>
      <vt:lpstr>Wyniki glowne</vt:lpstr>
      <vt:lpstr>Porównanie Accuracy [%]</vt:lpstr>
      <vt:lpstr>Macierze pomyłek</vt:lpstr>
      <vt:lpstr>Interpretacja FP/FN</vt:lpstr>
      <vt:lpstr>Model: Gemini 2.5 Pro</vt:lpstr>
      <vt:lpstr>Model: GPT-4.1</vt:lpstr>
      <vt:lpstr>Model: Bielik 11B (4-bit)</vt:lpstr>
      <vt:lpstr>Model: Llama Cloud</vt:lpstr>
      <vt:lpstr>Model: Mistral 7B</vt:lpstr>
      <vt:lpstr>Rekomendacje praktyczne</vt:lpstr>
      <vt:lpstr>Ograniczenia badania</vt:lpstr>
      <vt:lpstr>Kierunki dalszych prac</vt:lpstr>
      <vt:lpstr>Podsumowanie</vt:lpstr>
      <vt:lpstr>Dziękuje za uwagę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Piotr Maliga</cp:lastModifiedBy>
  <cp:revision>4</cp:revision>
  <dcterms:created xsi:type="dcterms:W3CDTF">2013-01-27T09:14:16Z</dcterms:created>
  <dcterms:modified xsi:type="dcterms:W3CDTF">2026-03-14T11:37:02Z</dcterms:modified>
  <cp:category/>
</cp:coreProperties>
</file>